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137160" cy="182880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MORT-FM v18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FDBE5"/>
                </a:solidFill>
              </a:defRPr>
            </a:pPr>
            <a:r>
              <a:t>An end-to-end pipeline for predicting drug resistance in multiple myeloma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9EB2C2"/>
                </a:solidFill>
              </a:defRPr>
            </a:pPr>
            <a:r>
              <a:t>Multi-Omic Resistance Trajectory Foundation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EA1B2"/>
                </a:solidFill>
              </a:defRPr>
            </a:pPr>
            <a:r>
              <a:t>Branch: v18-clean-canonical-mortfm   •   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Why a foundation model for myeloma resistance,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E2A47"/>
                </a:solidFill>
              </a:defRPr>
            </a:pPr>
            <a:r>
              <a:t>•  Multiple myeloma is treatable but almost always relapses — the tumor learns to resist therapy over time.</a:t>
            </a:r>
          </a:p>
          <a:p>
            <a:pPr>
              <a:spcAft>
                <a:spcPts val="600"/>
              </a:spcAft>
              <a:defRPr sz="1800" b="1">
                <a:solidFill>
                  <a:srgbClr val="0E2A47"/>
                </a:solidFill>
              </a:defRPr>
            </a:pPr>
            <a:r>
              <a:t>•  Doctors today pick the next line of treatment mostly by a few clinical labs (ISS stage, age) and trial-and-error.</a:t>
            </a:r>
          </a:p>
          <a:p>
            <a:pPr>
              <a:spcAft>
                <a:spcPts val="600"/>
              </a:spcAft>
              <a:defRPr sz="1800" b="1">
                <a:solidFill>
                  <a:srgbClr val="0E2A47"/>
                </a:solidFill>
              </a:defRPr>
            </a:pPr>
            <a:r>
              <a:t>•  We have rich data per patient — RNA-seq, single cells, drug screens, protein interaction networks — but each source is siloed.</a:t>
            </a:r>
          </a:p>
          <a:p>
            <a:pPr>
              <a:spcAft>
                <a:spcPts val="600"/>
              </a:spcAft>
              <a:defRPr sz="1800" b="1">
                <a:solidFill>
                  <a:srgbClr val="0E2A47"/>
                </a:solidFill>
              </a:defRPr>
            </a:pPr>
            <a:r>
              <a:t>•  Goal: one model that fuses these sources and answers three concrete questions for a specific patient:</a:t>
            </a:r>
          </a:p>
          <a:p>
            <a:pPr>
              <a:spcAft>
                <a:spcPts val="600"/>
              </a:spcAft>
              <a:defRPr sz="1500" b="0">
                <a:solidFill>
                  <a:srgbClr val="555B6A"/>
                </a:solidFill>
              </a:defRPr>
            </a:pPr>
            <a:r>
              <a:t>    –  How will their tumor state move over time? (trajectory)</a:t>
            </a:r>
          </a:p>
          <a:p>
            <a:pPr>
              <a:spcAft>
                <a:spcPts val="600"/>
              </a:spcAft>
              <a:defRPr sz="1500" b="0">
                <a:solidFill>
                  <a:srgbClr val="555B6A"/>
                </a:solidFill>
              </a:defRPr>
            </a:pPr>
            <a:r>
              <a:t>    –  When are they likely to progress? (hazard / hitting time)</a:t>
            </a:r>
          </a:p>
          <a:p>
            <a:pPr>
              <a:spcAft>
                <a:spcPts val="600"/>
              </a:spcAft>
              <a:defRPr sz="1500" b="0">
                <a:solidFill>
                  <a:srgbClr val="555B6A"/>
                </a:solidFill>
              </a:defRPr>
            </a:pPr>
            <a:r>
              <a:t>    –  Which resistance basin are they drifting toward? (basin probabilities)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Plain language: a basin is just a stable state the tumor settles into — sensitive, resistant, or somewhere in between.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What MORT-FM is, in one paragraph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defRPr sz="1800">
                <a:solidFill>
                  <a:srgbClr val="0E2A47"/>
                </a:solidFill>
              </a:defRPr>
            </a:pPr>
            <a:r>
              <a:t>MORT-FM is a single neural model with seven layers (A–G). Layers A–D learn general representations from cell lines, specimens, single cells, and protein/drug sequences. Layer E merges them into one checkpoint. Layer F (LENS) is a neural stochastic differential equation that rolls a patient's latent state forward in time on a learned energy landscape. Layer G runs counterfactual edits on the protein graph to ask “what if we silenced gene X?”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E2A47"/>
                </a:solidFill>
              </a:defRPr>
            </a:pPr>
            <a:r>
              <a:t>•  One canonical entry point:  model(batch, clinical=…, drug=…)</a:t>
            </a:r>
          </a:p>
          <a:p>
            <a:pPr>
              <a:spcAft>
                <a:spcPts val="600"/>
              </a:spcAft>
              <a:defRPr sz="1500" b="1">
                <a:solidFill>
                  <a:srgbClr val="0E2A47"/>
                </a:solidFill>
              </a:defRPr>
            </a:pPr>
            <a:r>
              <a:t>•  Returns a dict:  z_traj, hazard, basin_probs, hitting_cdf</a:t>
            </a:r>
          </a:p>
          <a:p>
            <a:pPr>
              <a:spcAft>
                <a:spcPts val="600"/>
              </a:spcAft>
              <a:defRPr sz="1500" b="1">
                <a:solidFill>
                  <a:srgbClr val="0E2A47"/>
                </a:solidFill>
              </a:defRPr>
            </a:pPr>
            <a:r>
              <a:t>•  Trains on real data only — a git hook blocks any np.random / synthetic-cohort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Neural SDE = a learnable noisy ODE. Same idea as a forecasting model, but with calibrated uncertainty baked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End-to-end pipeline: 10 numbered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scripts/mortfm/00 → 09 — run top to bottom and you get the whole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105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Download public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77439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MMRF, BeatAML, DepMap, STRING, Reactome, GDSC, ChEMBL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73736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62072" y="182880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8105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Harmonize identifiers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377439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STRING alias ↔ HGNC ↔ UniProt; 100%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73736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21224" y="182880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18105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Build longitudinal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377439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Per-patient time-ordered visits + censoring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173736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0375" y="182880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18105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Prepare MMRF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2377439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29 paired patients, 20 observed TT2L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173736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39528" y="1828800"/>
            <a:ext cx="502920" cy="50292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33888" y="181051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Pretrain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39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Block A on cell lines + Block B on BeatAML specimens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42900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3520440"/>
            <a:ext cx="502920" cy="50292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5021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Block C contrastive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406908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Single-cell stage encoder; macro-F1 0.431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0632" y="342900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62072" y="3520440"/>
            <a:ext cx="502920" cy="50292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5021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Train LENS resistance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35224" y="406908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Neural SDE on Waddington landscape; 4 variants LOO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9784" y="342900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21224" y="3520440"/>
            <a:ext cx="502920" cy="50292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5021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Train survival 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4376" y="406908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Competing-risk hazards, calibrated; bootstrap C-index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88936" y="342900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80375" y="352044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35021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Causal evidence 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53527" y="406908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CRISPR + drug-target + Reactome; p=0.002 enrichment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48088" y="3429000"/>
            <a:ext cx="224028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39528" y="3520440"/>
            <a:ext cx="502920" cy="50292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33888" y="3502152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A47"/>
                </a:solidFill>
              </a:defRPr>
            </a:pPr>
            <a:r>
              <a:t>Gate revalidation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406908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B6A"/>
                </a:solidFill>
              </a:defRPr>
            </a:pPr>
            <a:r>
              <a:t>12 claim levels — 6 granted, 6 blocked with reasons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11480" y="5166360"/>
            <a:ext cx="11384280" cy="292608"/>
          </a:xfrm>
          <a:prstGeom prst="rightArrow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 →  representations  →  trajectory + survival  →  evidence  →  claim gates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Orange-numbered cards (04–07) are the heavy training stages. Blue cards are data /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Stages 00–03 · Build the dataset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84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046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actually does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Key output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00_download_public_data.py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Pulls raw archives from MMRF, BeatAML, DepMap, STRING, Reactome, GDSC, ChEMBL.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data/raw/*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01_harmonize_identifiers.py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Bridges every gene/protein ID into one namespace (STRING alias ↔ HGNC ↔ UniProt).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200/200 edges mapped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02_build_longitudinal_dataset.py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Stacks per-patient visits in time order; encodes censoring so survival models see the right thing.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Longitudinal registry, 7 cohorts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03_prepare_mmrf.py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Filters MMRF down to patients with paired visits; extracts ISS, age, first-line bortezomib, n_treatments.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29 paired patients · 20 events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TT2L = time-to-second-line therapy. It is the event we predict in stage 07.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Stages 04–05 · Learn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Self-supervised + contrastive pretraining — no patient labels needed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11384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 (plain)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Headline number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04_pretrain_foundation.py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Block A: train on DepMap cell lines × GDSC drug screens to learn a general drug-response embedding.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Median Spearman 0.191 over 286 drugs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(+ Block B finetune)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Transfer Block A onto BeatAML patient specimens. Same model, new domain.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+0.110 paired Δ vs scratch [+0.081, +0.133]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05_train_block_c_contrastive.py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Single-cell encoder trained contrastively: similar cell states get similar embeddings; different stages get pushed apart.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Held-out macro-F1 0.431 (baseline 0.147)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Contrastive learning ≈ teach the model that two augmented views of the same cell are the same thing. Cheap supervision, lots of signal.</a:t>
            </a:r>
          </a:p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Block A → B transfer is the single cleanest evidence that the foundation actually learned something portable.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Spearman = rank correlation between predicted and true drug response. &gt;0.10 over many drugs is the field-standard 'useful'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Stages 06–07 · The patient-level heads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Where the model finally answers “what happens to this patient?”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11384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1097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06_train_lens_resistance.py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LENS = a neural SDE that rolls patient latent state forward in time on a learned energy landscape. Four variants are trained in a leave-one-out loop.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Best variant (LENS + clinical): C-index 0.603 [0.442, 0.797]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07_train_survival.py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Discrete-time competing-risk hazards (e.g. progression vs death). LBFGS temperature scaling for calibration. Clinical-only Cox is the mandatory baseline.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Optimism-corrected C = 0.480 (n=29 binding)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C-index measures whether the model ranks high-risk patients above low-risk ones. 0.5 = random; 0.7+ = useful clinically.</a:t>
            </a:r>
          </a:p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Survival result is honest: at n=29 paired patients, the corrected C dips below 0.5. The bottleneck is data scale, not model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Optimism correction = remove the over-fit bonus you get when training and testing on the same small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Stages 08–09 · Evidence and claim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Don't just predict — also justify and refuse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11384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1036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08_eval_causal_evidence_v2.py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Three channels of evidence for each predicted causal edge: DepMap CRISPR essentiality, ChEMBL drug-target, Reactome pathway membership. Permutation null.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Top-20 pathway count 64 vs null 14.4 → 10.9σ, p=0.002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09_gate_revalidate.py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Runs all 12 claim gates. Each gate has explicit thresholds. Refuses to grant claims that don't clear them — with a concrete reason per refusal.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6/12 granted, 6 blocked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Permutation null = shuffle the labels 1000× to see what would happen by chance. p=0.002 means the real signal is far bigger than chance.</a:t>
            </a:r>
          </a:p>
          <a:p>
            <a:pPr>
              <a:spcAft>
                <a:spcPts val="600"/>
              </a:spcAft>
              <a:defRPr sz="1400" b="1">
                <a:solidFill>
                  <a:srgbClr val="0E2A47"/>
                </a:solidFill>
              </a:defRPr>
            </a:pPr>
            <a:r>
              <a:t>•  Gates are the project's “falsification layer” — the pipeline can fail loudly, not just produce a pretty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Falsification framework is what makes this defensible — the niche claim isn't 'we beat SOTA', it's 'we say what we cannot claim and why'.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The model: 7 layers A →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One model, end-to-end gradients possible, but trained block-wise for sanity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7335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Cell-line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7335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DepMap × GDSC × STRING + Reactome + ChEMBL — general drug-response priors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1343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Specimen finetune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1343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BeatAML aligned to A's 2,000-gene space — 137/139 params ported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351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scRNA state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5351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Single-cell stage encoder — contrastive + pseudotime ordinal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9359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Sequence +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9359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ESM-2 protein embeddings (7,061) + STRING PPI graph (636K edges) + CRISPR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3367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Integrated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3367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Block A overlaid with B; C+D wired in via pointers. One file, one manifest.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7375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LENS 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87375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Neural SDE on a learned Waddington landscape. Competing-risk hazard head. Clinical features wired in.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13832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2A47"/>
                </a:solidFill>
              </a:defRPr>
            </a:pPr>
            <a:r>
              <a:t>Causal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51383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B6A"/>
                </a:solidFill>
              </a:defRPr>
            </a:pPr>
            <a:r>
              <a:t>Interventional graph: do(edge = silenced/added). Counterfactual runner. Pathway validator with external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Teal = foundation / representation layers. Orange = patient-level heads + causal.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One canonical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v18.1: every patient-level call goes through one .forward() — no hidden alternative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384048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from resistancemap.mortfm.model import MORTFM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model = MORTFM(cfg)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ONE official patient-level path — returns a dict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out = model(batch, clinical=clinical, drug=drug)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out["z_traj"]        # latent state over time (trajectory)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out["hazard"]        # per-time-bin event hazard (survival)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out["basin_probs"]   # P(sensitive / partial / resistant)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out["hitting_cdf"]   # P(progression event has happened by t)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Foundation-only encode (stages A/B/C) — no SDE, no heads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state = model.forward_foundation(batch)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Legacy v15 path, kept only so old checkpoints still load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legacy = model.forward_legacy(batch, n_traj_samples=4)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</a:defRPr>
            </a:pPr>
            <a:r>
              <a:t>•  Why this matters: v17 still had two forward paths. v18 makes the LENS dict the single canonical one.</a:t>
            </a:r>
          </a:p>
          <a:p>
            <a:pPr>
              <a:spcAft>
                <a:spcPts val="600"/>
              </a:spcAft>
              <a:defRPr sz="1300" b="1">
                <a:solidFill>
                  <a:srgbClr val="0E2A47"/>
                </a:solidFill>
              </a:defRPr>
            </a:pPr>
            <a:r>
              <a:t>•  Contract is enforced by tests/mortfm/test_canonical_forward.py — 4 tests, all green on this branch.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The strict trainer also raises MissingSupervisionError if stage E/F/G label coverage drops below 0.80/0.90/0.70. No silent skips.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What the four outputs mean (plain English)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84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595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Shape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Plain-language meaning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we'd do with it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z_traj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[B, T, 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The patient's latent state, sampled at T time 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Plot the trajectory; spot turning points before relapse.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hazard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[B, T, K]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Per-time-bin chance of event of type K (e.g. progression vs death).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Cumulative hazard, survival curve, calibration plots.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basin_probs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[B, 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Probability the patient ends up in each resistance basin.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Risk-stratify patients into sensitive / partial / resistant.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hitting_cdf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[B, T]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Probability the resistance event has occurred by time t.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E2A47"/>
                          </a:solidFill>
                        </a:rPr>
                        <a:t>Compute time-to-event estimates with uncertainty.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B = batch size, T = time bins, d = latent dim, K = number of competing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Real numbers — every row traces to a RUNS.md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No fabrication. The repo's settings.json hook blocks np.random in production code.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28800"/>
          <a:ext cx="11384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3906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Block A cell-line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Median Spearman over 286 GDSC drugs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0.191 (124/286 sig at p&lt;0.05)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Block B BeatAML scratch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Median Spearman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−0.006 [−0.063, +0.047]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Block B BeatAML init-from-A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Median Spearman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+0.103 [+0.070, +0.124]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Block B transfer effect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Paired Δ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+0.110 [+0.081, +0.133]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Block C contrastive (held-out)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Stage 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0.431 (v16 self-sup: 0.147)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LENS resistance (baseline)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LOO C-index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0.531 [0.395, 0.673]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LENS + clinical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LOO C-index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0.603 [0.442, 0.797]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Survival (optimism-corrected)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C-index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0.480 — n=29 binding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Causal evidence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Pathway enrichment vs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10.9σ, p=0.002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DepMap CRISPR external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Common essentials identified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E2A47"/>
                          </a:solidFill>
                        </a:rPr>
                        <a:t>1,057 / 17,931 genes × 1,095 lines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All on-disk; each row maps to a row in RUNS.md so a reviewer can replay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Claim gates: 6 granted, 6 blocked — with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The pipeline can fail loudly, and it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5577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A04A"/>
                </a:solidFill>
              </a:defRPr>
            </a:pPr>
            <a:r>
              <a:t>GRANTED (6/12)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technical — pipeline runs end-to-end on real data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static_drug_response — Block A median Spearman 0.191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hematologic_specimen_drug_response — paired Δ +0.074 [+0.033, +0.112]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single_cell_state — macro-F1 0.431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sequence_aware — Block D ESM-2 cache (7,061 sequences)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✓  pathway_context — 10.9σ enrichment, p=0.002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577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C3333"/>
                </a:solidFill>
              </a:defRPr>
            </a:pPr>
            <a:r>
              <a:t>BLOCKED (6/12)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drug_target_mechanism — coverage 32–47% &lt; 50% threshold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survival_prediction — corrected C 0.480 &lt; 0.50 (n=29 binding)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patient_level_clinical_prediction — needs external holdout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longitudinal_trajectory — 29 paired patients &lt; 100 threshold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resistance_emergence — lower CI 0.348 &lt; 0.55</a:t>
            </a:r>
          </a:p>
          <a:p>
            <a:pPr>
              <a:spcAft>
                <a:spcPts val="800"/>
              </a:spcAft>
              <a:defRPr sz="1300">
                <a:solidFill>
                  <a:srgbClr val="0E2A47"/>
                </a:solidFill>
              </a:defRPr>
            </a:pPr>
            <a:r>
              <a:t>✗  causal_mechanism — 1/20 common-essential targets (strict)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The binding constraint across most blocked gates is the same number: 29 paired MMRF patients. Scale data, not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What v18 actually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A code-quality pass on top of the v17 results — not a retraining pass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783080"/>
          <a:ext cx="11384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62701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Commit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MORTFM.forward() is now the canonical LENS path. forward_lens() retired.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One execution path instead of two — fewer surprises for callers.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Trainer raises MissingSupervisionError below stage E/F/G coverage thresholds.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No more silently skipping a head and reporting good loss for the wrong reason.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v15 dynamics + heads archived under resistancemap/legacy/v15_planned_mortfm/.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Old checkpoints still load; new code doesn't accidentally import dead paths.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Canonical scripts/mortfm/00–09 numbered workflow + scripts/archive/ for superseded.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A new person can read the pipeline in stage order without spelunking.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stdlib-only dead-code audit + 33-entry allowlist; 694 unused imports baseline.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Measurable cleanup target with zero new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v18.6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README + RUNS update reflecting all of the above.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E2A47"/>
                          </a:solidFill>
                        </a:rPr>
                        <a:t>Public surface matches the code on disk.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Headline results are unchanged — v17 numbers still stand. v18 is about making the working pipeline durable.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Honesty guardrails baked into the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Why a reviewer should trust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No-synthetic-data hook — .claude/settings.json blocks any commit that introduces np.random or _generate_synthetic_cohort into data / evaluation paths.</a:t>
            </a:r>
          </a:p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RUNS.md provenance — every numeric claim in README / paper has to cite a run row. The release-bouncer agent enforces it before tagging.</a:t>
            </a:r>
          </a:p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Claim gates with concrete thresholds — gates refuse with reasons, they don't approximate. C=0.480 is below 0.50, so survival is blocked, period.</a:t>
            </a:r>
          </a:p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Strict trainer — drops out only at stages A/B/C (foundation). At patient-level stages E/F/G, missing labels raise an exception.</a:t>
            </a:r>
          </a:p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Test suite enforces the API — 78/78 currently passing on the v18 branch, including 4 canonical-forward contract tests.</a:t>
            </a:r>
          </a:p>
          <a:p>
            <a:pPr>
              <a:spcAft>
                <a:spcPts val="600"/>
              </a:spcAft>
              <a:defRPr sz="1600" b="1">
                <a:solidFill>
                  <a:srgbClr val="0E2A47"/>
                </a:solidFill>
              </a:defRPr>
            </a:pPr>
            <a:r>
              <a:t>•  MOFA-and-friends comparators are real comparators — we don't ship an in-house wrapper labelled “MOFA” that nobody else can reproduce.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The niche claim of this work is the falsification framework as much as it is the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Honest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C3333"/>
                </a:solidFill>
              </a:defRPr>
            </a:pPr>
            <a:r>
              <a:t>Where the pipeline is weakest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n = 29 paired MMRF patients. This is the single most important number in the project — every blocked gate traces back here.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No external clinical holdout yet. Patient-level claims need a cohort the model has never seen.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Causal evidence is a smoke test, not a clinical mechanism. 200 edges, top-10 vs null separation 4.32σ — defensible, not yet actionable.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Survival head's corrected C dips below 0.5 at this n; the raw LOO 0.515 [0.348, 0.684] tells you the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7A8A"/>
                </a:solidFill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Add ~80–100 more paired MMRF patients (or an equivalent CoMMpass slice). Lifts every blocked gate at once.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Wire a real external test cohort (PADIMAC GSE116324 ingest is already in the repo).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Move from smoke-test causal validator to a full pathway-level mechanism panel with CRISPR cross-validation.</a:t>
            </a:r>
          </a:p>
          <a:p>
            <a:pPr>
              <a:spcAft>
                <a:spcPts val="1000"/>
              </a:spcAft>
              <a:defRPr sz="1300">
                <a:solidFill>
                  <a:srgbClr val="0E2A47"/>
                </a:solidFill>
              </a:defRPr>
            </a:pPr>
            <a:r>
              <a:t>•  First bioRxiv submission targeted on the falsification framework + Block A/B/C/D + claim-gate methodology, not on the survival 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The most useful thing this project can publish today is the methodology — including the things it refuses to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A47"/>
                </a:solidFill>
              </a:defRPr>
            </a:pPr>
            <a:r>
              <a:t>Reproducing the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55B6A"/>
                </a:solidFill>
              </a:defRPr>
            </a:pPr>
            <a:r>
              <a:t>scripts/mortfm/ is the entire surface — top to bottom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solidFill>
            <a:srgbClr val="1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0. Get the public data + harmonize IDs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scripts/mortfm/00_download_public_data.py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scripts/mortfm/01_harmonize_identifiers.py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1. Build longitudinal cohort and MMRF prep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scripts/mortfm/02_build_longitudinal_dataset.py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scripts/mortfm/03_prepare_mmrf.py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2. Pretrain foundation (Block A + Block B) and single-cell encoder (Block C)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scripts/mortfm/04_pretrain_foundation.py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scripts/mortfm/05_train_block_c_contrastive.py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3. Patient-level heads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scripts/mortfm/06_train_lens_resistance.py --epochs 80 --use-clinical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scripts/mortfm/07_train_survival.py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# 4. Evidence and gates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scripts/mortfm/08_eval_causal_evidence_v2.py --n-edges 200</a:t>
            </a:r>
          </a:p>
          <a:p>
            <a:pPr>
              <a:spcAft>
                <a:spcPts val="0"/>
              </a:spcAft>
              <a:defRPr sz="1400">
                <a:solidFill>
                  <a:srgbClr val="E6ECF5"/>
                </a:solidFill>
                <a:latin typeface="Consolas"/>
              </a:defRPr>
            </a:pPr>
            <a:r>
              <a:t>python scripts/mortfm/09_gate_revalidate.py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2A47"/>
                </a:solidFill>
              </a:defRPr>
            </a:pPr>
            <a:r>
              <a:t>•  Each script is a thin shim around the underlying mortfm_*.py — RUNS.md rows still resolve.</a:t>
            </a:r>
          </a:p>
          <a:p>
            <a:pPr>
              <a:spcAft>
                <a:spcPts val="600"/>
              </a:spcAft>
              <a:defRPr sz="1200" b="1">
                <a:solidFill>
                  <a:srgbClr val="0E2A47"/>
                </a:solidFill>
              </a:defRPr>
            </a:pPr>
            <a:r>
              <a:t>•  Smoke test: scripts/mortfm_v17_unified_smoke.py — wires both forward paths in one 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B6A"/>
                </a:solidFill>
              </a:defRPr>
            </a:pPr>
            <a:r>
              <a:t>End of deck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